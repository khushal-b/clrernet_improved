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82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84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28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8.5440211794786586E-2"/>
          <c:y val="5.5108471610540208E-2"/>
          <c:w val="0.89991951969379602"/>
          <c:h val="0.70366601420585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Paper Reported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Normal</c:v>
                </c:pt>
                <c:pt idx="1">
                  <c:v>Crowd</c:v>
                </c:pt>
                <c:pt idx="2">
                  <c:v>Dazzle</c:v>
                </c:pt>
                <c:pt idx="3">
                  <c:v>Shadow</c:v>
                </c:pt>
                <c:pt idx="4">
                  <c:v>No Line</c:v>
                </c:pt>
                <c:pt idx="5">
                  <c:v>Arrow</c:v>
                </c:pt>
                <c:pt idx="6">
                  <c:v>Curve</c:v>
                </c:pt>
                <c:pt idx="7">
                  <c:v>Night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94.36</c:v>
                </c:pt>
                <c:pt idx="1">
                  <c:v>80.849999999999994</c:v>
                </c:pt>
                <c:pt idx="2">
                  <c:v>75.17</c:v>
                </c:pt>
                <c:pt idx="3">
                  <c:v>84.55</c:v>
                </c:pt>
                <c:pt idx="4">
                  <c:v>56.75</c:v>
                </c:pt>
                <c:pt idx="5">
                  <c:v>90.99</c:v>
                </c:pt>
                <c:pt idx="6">
                  <c:v>78.83</c:v>
                </c:pt>
                <c:pt idx="7">
                  <c:v>76.849999999999994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66-4F9B-9E03-D8AA96F6CED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 Reproduction</c:v>
                </c:pt>
              </c:strCache>
            </c:strRef>
          </c:tx>
          <c:spPr>
            <a:solidFill>
              <a:srgbClr val="E8820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Normal</c:v>
                </c:pt>
                <c:pt idx="1">
                  <c:v>Crowd</c:v>
                </c:pt>
                <c:pt idx="2">
                  <c:v>Dazzle</c:v>
                </c:pt>
                <c:pt idx="3">
                  <c:v>Shadow</c:v>
                </c:pt>
                <c:pt idx="4">
                  <c:v>No Line</c:v>
                </c:pt>
                <c:pt idx="5">
                  <c:v>Arrow</c:v>
                </c:pt>
                <c:pt idx="6">
                  <c:v>Curve</c:v>
                </c:pt>
                <c:pt idx="7">
                  <c:v>Night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94.36</c:v>
                </c:pt>
                <c:pt idx="1">
                  <c:v>80.849999999999994</c:v>
                </c:pt>
                <c:pt idx="2">
                  <c:v>75.17</c:v>
                </c:pt>
                <c:pt idx="3">
                  <c:v>84.55</c:v>
                </c:pt>
                <c:pt idx="4">
                  <c:v>56.75</c:v>
                </c:pt>
                <c:pt idx="5">
                  <c:v>90.99</c:v>
                </c:pt>
                <c:pt idx="6">
                  <c:v>78.83</c:v>
                </c:pt>
                <c:pt idx="7">
                  <c:v>76.849999999999994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66-4F9B-9E03-D8AA96F6CE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/>
            </a:pPr>
            <a:r>
              <a:rPr lang="en-US"/>
              <a:t>Mask IoU vs. Lateral Offset (threshold = 0.5)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IoU with Fixed Width (30px)</c:v>
                </c:pt>
              </c:strCache>
            </c:strRef>
          </c:tx>
          <c:spPr>
            <a:solidFill>
              <a:srgbClr val="DC2626"/>
            </a:solidFill>
            <a:ln>
              <a:solidFill>
                <a:schemeClr val="bg2">
                  <a:lumMod val="50000"/>
                </a:schemeClr>
              </a:solidFill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ε=5px</c:v>
                </c:pt>
                <c:pt idx="1">
                  <c:v>ε=10px</c:v>
                </c:pt>
                <c:pt idx="2">
                  <c:v>ε=12px</c:v>
                </c:pt>
                <c:pt idx="3">
                  <c:v>ε=15px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0.71</c:v>
                </c:pt>
                <c:pt idx="1">
                  <c:v>0.5</c:v>
                </c:pt>
                <c:pt idx="2">
                  <c:v>0.43</c:v>
                </c:pt>
                <c:pt idx="3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2E-47C0-ABA7-4176F3FC83A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IoU with AMW (54px)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solidFill>
                  <a:schemeClr val="tx1"/>
                </a:solidFill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ε=5px</c:v>
                </c:pt>
                <c:pt idx="1">
                  <c:v>ε=10px</c:v>
                </c:pt>
                <c:pt idx="2">
                  <c:v>ε=12px</c:v>
                </c:pt>
                <c:pt idx="3">
                  <c:v>ε=15px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0.83</c:v>
                </c:pt>
                <c:pt idx="1">
                  <c:v>0.69</c:v>
                </c:pt>
                <c:pt idx="2">
                  <c:v>0.64</c:v>
                </c:pt>
                <c:pt idx="3">
                  <c:v>0.56000000000000005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82E-47C0-ABA7-4176F3FC83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solidFill>
        <a:schemeClr val="tx1"/>
      </a:solidFill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EMA (81.55%)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Normal</c:v>
                </c:pt>
                <c:pt idx="1">
                  <c:v>Crowd</c:v>
                </c:pt>
                <c:pt idx="2">
                  <c:v>Dazzle</c:v>
                </c:pt>
                <c:pt idx="3">
                  <c:v>Shadow</c:v>
                </c:pt>
                <c:pt idx="4">
                  <c:v>NoLine</c:v>
                </c:pt>
                <c:pt idx="5">
                  <c:v>Arrow</c:v>
                </c:pt>
                <c:pt idx="6">
                  <c:v>Curve</c:v>
                </c:pt>
                <c:pt idx="7">
                  <c:v>Night</c:v>
                </c:pt>
                <c:pt idx="8">
                  <c:v>All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94.36</c:v>
                </c:pt>
                <c:pt idx="1">
                  <c:v>80.849999999999994</c:v>
                </c:pt>
                <c:pt idx="2">
                  <c:v>75.17</c:v>
                </c:pt>
                <c:pt idx="3">
                  <c:v>84.55</c:v>
                </c:pt>
                <c:pt idx="4">
                  <c:v>56.75</c:v>
                </c:pt>
                <c:pt idx="5">
                  <c:v>90.99</c:v>
                </c:pt>
                <c:pt idx="6">
                  <c:v>78.83</c:v>
                </c:pt>
                <c:pt idx="7">
                  <c:v>76.849999999999994</c:v>
                </c:pt>
                <c:pt idx="8">
                  <c:v>81.55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07-405D-90B6-8642404C08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 GER + AMW (85.46%)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Normal</c:v>
                </c:pt>
                <c:pt idx="1">
                  <c:v>Crowd</c:v>
                </c:pt>
                <c:pt idx="2">
                  <c:v>Dazzle</c:v>
                </c:pt>
                <c:pt idx="3">
                  <c:v>Shadow</c:v>
                </c:pt>
                <c:pt idx="4">
                  <c:v>NoLine</c:v>
                </c:pt>
                <c:pt idx="5">
                  <c:v>Arrow</c:v>
                </c:pt>
                <c:pt idx="6">
                  <c:v>Curve</c:v>
                </c:pt>
                <c:pt idx="7">
                  <c:v>Night</c:v>
                </c:pt>
                <c:pt idx="8">
                  <c:v>All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96.83</c:v>
                </c:pt>
                <c:pt idx="1">
                  <c:v>85.38</c:v>
                </c:pt>
                <c:pt idx="2">
                  <c:v>80.98</c:v>
                </c:pt>
                <c:pt idx="3">
                  <c:v>87.87</c:v>
                </c:pt>
                <c:pt idx="4">
                  <c:v>62.02</c:v>
                </c:pt>
                <c:pt idx="5">
                  <c:v>93.67</c:v>
                </c:pt>
                <c:pt idx="6">
                  <c:v>85.53</c:v>
                </c:pt>
                <c:pt idx="7">
                  <c:v>81.680000000000007</c:v>
                </c:pt>
                <c:pt idx="8">
                  <c:v>85.46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107-405D-90B6-8642404C08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374151"/>
                </a:solidFill>
                <a:latin typeface="Arial"/>
              </a:rPr>
              <a:t>Per-Category F₁ Gain (</a:t>
            </a:r>
            <a:r>
              <a:rPr lang="el-GR" sz="1100" b="0" i="0" u="none" strike="noStrike">
                <a:solidFill>
                  <a:srgbClr val="374151"/>
                </a:solidFill>
                <a:latin typeface="Arial"/>
              </a:rPr>
              <a:t>Δ%)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F₁ Improvement (Δ%)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Normal</c:v>
                </c:pt>
                <c:pt idx="1">
                  <c:v>Crowd</c:v>
                </c:pt>
                <c:pt idx="2">
                  <c:v>Dazzle</c:v>
                </c:pt>
                <c:pt idx="3">
                  <c:v>Shadow</c:v>
                </c:pt>
                <c:pt idx="4">
                  <c:v>NoLine</c:v>
                </c:pt>
                <c:pt idx="5">
                  <c:v>Arrow</c:v>
                </c:pt>
                <c:pt idx="6">
                  <c:v>Curve</c:v>
                </c:pt>
                <c:pt idx="7">
                  <c:v>Night</c:v>
                </c:pt>
                <c:pt idx="8">
                  <c:v>All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2.4700000000000002</c:v>
                </c:pt>
                <c:pt idx="1">
                  <c:v>4.53</c:v>
                </c:pt>
                <c:pt idx="2">
                  <c:v>5.81</c:v>
                </c:pt>
                <c:pt idx="3">
                  <c:v>3.32</c:v>
                </c:pt>
                <c:pt idx="4">
                  <c:v>5.27</c:v>
                </c:pt>
                <c:pt idx="5">
                  <c:v>2.68</c:v>
                </c:pt>
                <c:pt idx="6">
                  <c:v>6.7</c:v>
                </c:pt>
                <c:pt idx="7">
                  <c:v>4.83</c:v>
                </c:pt>
                <c:pt idx="8">
                  <c:v>3.91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A8-40A7-A3EA-5178EE30AD8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F₁ Score (IoU=0.5)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B72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F0D-4976-BB99-AF8CACF2FBC0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F0D-4976-BB99-AF8CACF2FBC0}"/>
              </c:ext>
            </c:extLst>
          </c:dPt>
          <c:dPt>
            <c:idx val="2"/>
            <c:invertIfNegative val="0"/>
            <c:bubble3D val="0"/>
            <c:spPr>
              <a:solidFill>
                <a:srgbClr val="1D4E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F0D-4976-BB99-AF8CACF2FBC0}"/>
              </c:ext>
            </c:extLst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F0D-4976-BB99-AF8CACF2FBC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Baseline
EMA</c:v>
                </c:pt>
                <c:pt idx="1">
                  <c:v>Baseline
+ GER</c:v>
                </c:pt>
                <c:pt idx="2">
                  <c:v>Baseline
+ AMW</c:v>
                </c:pt>
                <c:pt idx="3">
                  <c:v>Baseline
+ GER
+ AMW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81.55</c:v>
                </c:pt>
                <c:pt idx="1">
                  <c:v>83.12</c:v>
                </c:pt>
                <c:pt idx="2">
                  <c:v>84.01</c:v>
                </c:pt>
                <c:pt idx="3">
                  <c:v>85.46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F0D-4976-BB99-AF8CACF2FBC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7"/>
          <c:min val="79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757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2849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9B8CCA8E-0207-768E-15A9-AC03E8CA661A}"/>
              </a:ext>
            </a:extLst>
          </p:cNvPr>
          <p:cNvSpPr txBox="1"/>
          <p:nvPr/>
        </p:nvSpPr>
        <p:spPr>
          <a:xfrm>
            <a:off x="1212595" y="1475875"/>
            <a:ext cx="65971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/>
              <a:t>CLRerNet</a:t>
            </a:r>
            <a:r>
              <a:rPr lang="en-US" sz="2400" b="1" dirty="0"/>
              <a:t>: Improving Confidence of Lane Detection with </a:t>
            </a:r>
            <a:r>
              <a:rPr lang="en-US" sz="2400" b="1" dirty="0" err="1"/>
              <a:t>LaneIoU</a:t>
            </a: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DE02BA-7B27-45AE-0935-7E3CEBE19563}"/>
              </a:ext>
            </a:extLst>
          </p:cNvPr>
          <p:cNvSpPr txBox="1"/>
          <p:nvPr/>
        </p:nvSpPr>
        <p:spPr>
          <a:xfrm>
            <a:off x="2964204" y="2643058"/>
            <a:ext cx="3165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Published in the WACV Conference, 2024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CA7A9F-0102-A369-A104-0805C6B019A4}"/>
              </a:ext>
            </a:extLst>
          </p:cNvPr>
          <p:cNvSpPr txBox="1"/>
          <p:nvPr/>
        </p:nvSpPr>
        <p:spPr>
          <a:xfrm>
            <a:off x="3272187" y="3694061"/>
            <a:ext cx="2599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+mn-lt"/>
                <a:ea typeface="Cambria" panose="02040503050406030204" pitchFamily="18" charset="0"/>
              </a:rPr>
              <a:t>Presented by</a:t>
            </a:r>
          </a:p>
          <a:p>
            <a:pPr algn="ctr"/>
            <a:r>
              <a:rPr lang="en-US" sz="1200" dirty="0">
                <a:latin typeface="+mn-lt"/>
                <a:ea typeface="Cambria" panose="02040503050406030204" pitchFamily="18" charset="0"/>
              </a:rPr>
              <a:t>Khushal Bhalia (CS25MTECH14008)</a:t>
            </a:r>
          </a:p>
          <a:p>
            <a:pPr algn="ctr"/>
            <a:endParaRPr lang="en-US" sz="1200" b="1" dirty="0">
              <a:latin typeface="+mn-lt"/>
              <a:ea typeface="Cambria" panose="02040503050406030204" pitchFamily="18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9E3F5325-A310-46CC-5DD0-8B873BD239F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882671" y="130731"/>
            <a:ext cx="877728" cy="776100"/>
          </a:xfrm>
          <a:prstGeom prst="rect">
            <a:avLst/>
          </a:prstGeom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391F5E-6ADA-14CD-53C5-FE2C40DFEC6D}"/>
              </a:ext>
            </a:extLst>
          </p:cNvPr>
          <p:cNvSpPr txBox="1"/>
          <p:nvPr/>
        </p:nvSpPr>
        <p:spPr>
          <a:xfrm>
            <a:off x="6331494" y="3694061"/>
            <a:ext cx="16514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+mj-lt"/>
                <a:ea typeface="Cambria" panose="02040503050406030204" pitchFamily="18" charset="0"/>
              </a:rPr>
              <a:t>TA</a:t>
            </a:r>
          </a:p>
          <a:p>
            <a:pPr algn="ctr">
              <a:buSzPts val="1300"/>
            </a:pPr>
            <a:r>
              <a:rPr lang="en-IN" sz="1200" dirty="0"/>
              <a:t>Metta Rajesh Krishna</a:t>
            </a:r>
          </a:p>
          <a:p>
            <a:pPr algn="ctr">
              <a:buSzPts val="1300"/>
            </a:pPr>
            <a:r>
              <a:rPr lang="en-IN" sz="1200" dirty="0"/>
              <a:t>(CS24MTECH11012)</a:t>
            </a:r>
          </a:p>
        </p:txBody>
      </p:sp>
      <p:sp>
        <p:nvSpPr>
          <p:cNvPr id="7" name="Google Shape;62;p13">
            <a:extLst>
              <a:ext uri="{FF2B5EF4-FFF2-40B4-BE49-F238E27FC236}">
                <a16:creationId xmlns:a16="http://schemas.microsoft.com/office/drawing/2014/main" id="{1F98DA53-C172-9C44-9C6A-D3C16B00EF1E}"/>
              </a:ext>
            </a:extLst>
          </p:cNvPr>
          <p:cNvSpPr txBox="1"/>
          <p:nvPr/>
        </p:nvSpPr>
        <p:spPr>
          <a:xfrm>
            <a:off x="2751658" y="211189"/>
            <a:ext cx="3518995" cy="7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800" b="1" dirty="0"/>
              <a:t>Presentation 2: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800" b="1" dirty="0"/>
              <a:t>CS6450 – Visual Computing</a:t>
            </a:r>
            <a:endParaRPr sz="1800" b="1" dirty="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600" dirty="0"/>
          </a:p>
        </p:txBody>
      </p:sp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100AE7E7-3416-6587-D904-C9171E88C6FE}"/>
              </a:ext>
            </a:extLst>
          </p:cNvPr>
          <p:cNvCxnSpPr/>
          <p:nvPr/>
        </p:nvCxnSpPr>
        <p:spPr>
          <a:xfrm>
            <a:off x="266247" y="987289"/>
            <a:ext cx="8611500" cy="600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" name="Google Shape;61;p13">
            <a:extLst>
              <a:ext uri="{FF2B5EF4-FFF2-40B4-BE49-F238E27FC236}">
                <a16:creationId xmlns:a16="http://schemas.microsoft.com/office/drawing/2014/main" id="{2447B5F6-8922-D7FF-B759-573970E447ED}"/>
              </a:ext>
            </a:extLst>
          </p:cNvPr>
          <p:cNvSpPr txBox="1"/>
          <p:nvPr/>
        </p:nvSpPr>
        <p:spPr>
          <a:xfrm>
            <a:off x="919760" y="3694061"/>
            <a:ext cx="2130300" cy="7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200" b="1" dirty="0">
                <a:solidFill>
                  <a:schemeClr val="dk1"/>
                </a:solidFill>
              </a:rPr>
              <a:t>Course Instructor</a:t>
            </a:r>
            <a:br>
              <a:rPr lang="en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 dirty="0">
                <a:solidFill>
                  <a:schemeClr val="dk1"/>
                </a:solidFill>
              </a:rPr>
              <a:t>Prof. Dr. C. Krishna Mohan</a:t>
            </a:r>
            <a:endParaRPr sz="1200" dirty="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B82E8C-76E8-E21B-853B-32440EBCDAA8}"/>
              </a:ext>
            </a:extLst>
          </p:cNvPr>
          <p:cNvSpPr txBox="1"/>
          <p:nvPr/>
        </p:nvSpPr>
        <p:spPr>
          <a:xfrm>
            <a:off x="1634033" y="2880821"/>
            <a:ext cx="58256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Hiroto Honda, Yusuke Uchida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8CDAD2-39F8-A2DD-26E7-C190A2D12CD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36000" y="4836233"/>
            <a:ext cx="385157" cy="220583"/>
          </a:xfrm>
        </p:spPr>
        <p:txBody>
          <a:bodyPr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89F79E-4D3E-FDCD-0362-C6C84ECB014D}"/>
              </a:ext>
            </a:extLst>
          </p:cNvPr>
          <p:cNvSpPr txBox="1"/>
          <p:nvPr/>
        </p:nvSpPr>
        <p:spPr>
          <a:xfrm>
            <a:off x="3146840" y="2238010"/>
            <a:ext cx="27286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(Implementation with Novelty)</a:t>
            </a:r>
          </a:p>
        </p:txBody>
      </p:sp>
    </p:spTree>
    <p:extLst>
      <p:ext uri="{BB962C8B-B14F-4D97-AF65-F5344CB8AC3E}">
        <p14:creationId xmlns:p14="http://schemas.microsoft.com/office/powerpoint/2010/main" val="327556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3152"/>
            <a:ext cx="719328" cy="5394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</a:t>
            </a:r>
            <a:r>
              <a:rPr lang="en-US" sz="26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CLRerNet</a:t>
            </a: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Paper Overview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20040" y="658368"/>
            <a:ext cx="8503920" cy="50292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6B7280"/>
                </a:solidFill>
              </a:rPr>
              <a:t>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20040" y="822960"/>
            <a:ext cx="4114800" cy="4114800"/>
          </a:xfrm>
          <a:prstGeom prst="rect">
            <a:avLst/>
          </a:prstGeom>
          <a:noFill/>
          <a:ln w="6350">
            <a:solidFill>
              <a:schemeClr val="tx1"/>
            </a:solidFill>
            <a:prstDash val="solid"/>
          </a:ln>
          <a:effectLst/>
        </p:spPr>
      </p:sp>
      <p:sp>
        <p:nvSpPr>
          <p:cNvPr id="8" name="Text 5"/>
          <p:cNvSpPr/>
          <p:nvPr/>
        </p:nvSpPr>
        <p:spPr>
          <a:xfrm>
            <a:off x="320040" y="8229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/>
              <a:t>The Problem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1319445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detection benchmarks measure </a:t>
            </a: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segmentation-mask IoU</a:t>
            </a: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</a:t>
            </a:r>
            <a:r>
              <a:rPr lang="en-US" sz="11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CLRerNet</a:t>
            </a: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trains with angle-blind LineIoU.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0080" y="2377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Tilted &amp; curved lanes receive </a:t>
            </a: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confidence </a:t>
            </a: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scores, model cannot reliably distinguish its own good predictions from bad ones.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40080" y="3494701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experiment </a:t>
            </a: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(paper): replace scores → F1 jumps from 80.86% to 98.47%. The right lanes are already there; scoring is broken.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754880" y="822960"/>
            <a:ext cx="4069080" cy="4114800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  <a:prstDash val="solid"/>
          </a:ln>
          <a:effectLst/>
        </p:spPr>
        <p:txBody>
          <a:bodyPr/>
          <a:lstStyle/>
          <a:p>
            <a:pPr algn="just"/>
            <a:endParaRPr lang="en-IN" dirty="0"/>
          </a:p>
        </p:txBody>
      </p:sp>
      <p:sp>
        <p:nvSpPr>
          <p:cNvPr id="17" name="Text 14"/>
          <p:cNvSpPr/>
          <p:nvPr/>
        </p:nvSpPr>
        <p:spPr>
          <a:xfrm>
            <a:off x="4754880" y="82296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/>
              <a:t>The Solution: LaneIoU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937760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Angle-Aware Width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937760" y="158191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lane width scales with local tilt angle, thin vertical lanes, wider tilted lanes, exactly matching the segmentation metric.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93776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Dynamic-k Assignment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937760" y="266090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anchors assigned per GT lane is proportional to LaneIoU, distributing loss fairly across all lane angles.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937760" y="3456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Cost + Loss Integration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937760" y="373989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LaneIoU replaces both the assignment cost and the regression loss in CLRNet, guiding the model to produce scores that reflect true IoU.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3152"/>
            <a:ext cx="719328" cy="5394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Architecture &amp; Key Contributions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20040" y="658368"/>
            <a:ext cx="8503920" cy="50292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6B7280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-11176" y="3376034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integrates LaneIoU in three places: dynamic-k assignment, assignment cost, and regression loss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4068" y="3860074"/>
            <a:ext cx="2423160" cy="143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Focus: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57200" y="4160669"/>
            <a:ext cx="2423160" cy="685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experiment proves correct lanes exist in predictions; confidence scoring is the bottleneck, not localization.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216826" y="3860074"/>
            <a:ext cx="2423160" cy="143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195658" y="4160669"/>
            <a:ext cx="2802130" cy="685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LaneIoU integrates angle-awareness into assignment cost AND loss, producing confidence scores correlated with the metric.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147754" y="3860073"/>
            <a:ext cx="2423160" cy="143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Benchmarking: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147754" y="4160668"/>
            <a:ext cx="2423160" cy="685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for threshold + 5-seed averaging eliminates lucky-run bias. First in lane detection literature.</a:t>
            </a:r>
            <a:endParaRPr lang="en-US" sz="11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444E754-5CD1-ED22-965C-2BC2BC02B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34" y="951157"/>
            <a:ext cx="6237100" cy="22882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3152"/>
            <a:ext cx="719328" cy="5394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Results on CULane Test Set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20040" y="658368"/>
            <a:ext cx="8503920" cy="50292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5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20040" y="841248"/>
            <a:ext cx="1993392" cy="1261872"/>
          </a:xfrm>
          <a:prstGeom prst="rect">
            <a:avLst/>
          </a:prstGeom>
          <a:solidFill>
            <a:srgbClr val="FFFFFF"/>
          </a:solidFill>
          <a:ln w="6350">
            <a:solidFill>
              <a:schemeClr val="bg2">
                <a:lumMod val="75000"/>
              </a:schemeClr>
            </a:solidFill>
            <a:prstDash val="solid"/>
          </a:ln>
          <a:effectLst/>
        </p:spPr>
        <p:txBody>
          <a:bodyPr/>
          <a:lstStyle/>
          <a:p>
            <a:endParaRPr lang="en-IN" dirty="0"/>
          </a:p>
        </p:txBody>
      </p:sp>
      <p:sp>
        <p:nvSpPr>
          <p:cNvPr id="7" name="Text 4"/>
          <p:cNvSpPr/>
          <p:nvPr/>
        </p:nvSpPr>
        <p:spPr>
          <a:xfrm>
            <a:off x="320040" y="91440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81.55%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20040" y="153619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F₁ (IoU=0.5)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20040" y="181051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81.43 ± 0.14%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96312" y="841248"/>
            <a:ext cx="1993392" cy="1261872"/>
          </a:xfrm>
          <a:prstGeom prst="rect">
            <a:avLst/>
          </a:prstGeom>
          <a:solidFill>
            <a:srgbClr val="FFFFFF"/>
          </a:solidFill>
          <a:ln w="6350">
            <a:solidFill>
              <a:schemeClr val="bg2">
                <a:lumMod val="75000"/>
              </a:schemeClr>
            </a:solidFill>
            <a:prstDash val="solid"/>
          </a:ln>
          <a:effectLst/>
        </p:spPr>
      </p:sp>
      <p:sp>
        <p:nvSpPr>
          <p:cNvPr id="11" name="Text 8"/>
          <p:cNvSpPr/>
          <p:nvPr/>
        </p:nvSpPr>
        <p:spPr>
          <a:xfrm>
            <a:off x="2496312" y="91440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+0.12%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2496312" y="153619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Paper Mean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496312" y="181051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stated ±0.14% variance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72584" y="841248"/>
            <a:ext cx="1993392" cy="1261872"/>
          </a:xfrm>
          <a:prstGeom prst="rect">
            <a:avLst/>
          </a:prstGeom>
          <a:solidFill>
            <a:srgbClr val="FFFFFF"/>
          </a:solidFill>
          <a:ln w="6350">
            <a:solidFill>
              <a:schemeClr val="bg2">
                <a:lumMod val="75000"/>
              </a:schemeClr>
            </a:solidFill>
            <a:prstDash val="solid"/>
          </a:ln>
          <a:effectLst/>
        </p:spPr>
      </p:sp>
      <p:sp>
        <p:nvSpPr>
          <p:cNvPr id="15" name="Text 12"/>
          <p:cNvSpPr/>
          <p:nvPr/>
        </p:nvSpPr>
        <p:spPr>
          <a:xfrm>
            <a:off x="4672584" y="91440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34,680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4672584" y="153619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Images Evaluated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672584" y="181051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CULane benchmark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848856" y="841248"/>
            <a:ext cx="1993392" cy="1261872"/>
          </a:xfrm>
          <a:prstGeom prst="rect">
            <a:avLst/>
          </a:prstGeom>
          <a:solidFill>
            <a:srgbClr val="FFFFFF"/>
          </a:solidFill>
          <a:ln w="6350">
            <a:solidFill>
              <a:schemeClr val="bg2">
                <a:lumMod val="75000"/>
              </a:schemeClr>
            </a:solidFill>
            <a:prstDash val="solid"/>
          </a:ln>
          <a:effectLst/>
        </p:spPr>
      </p:sp>
      <p:sp>
        <p:nvSpPr>
          <p:cNvPr id="19" name="Text 16"/>
          <p:cNvSpPr/>
          <p:nvPr/>
        </p:nvSpPr>
        <p:spPr>
          <a:xfrm>
            <a:off x="6848856" y="91440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18.4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6848856" y="153619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GFLOPs (DLA34)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848856" y="181051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 FPS on RTX 3050</a:t>
            </a:r>
            <a:endParaRPr lang="en-US" sz="900" dirty="0"/>
          </a:p>
        </p:txBody>
      </p:sp>
      <p:graphicFrame>
        <p:nvGraphicFramePr>
          <p:cNvPr id="22" name="Chart 0"/>
          <p:cNvGraphicFramePr/>
          <p:nvPr>
            <p:extLst>
              <p:ext uri="{D42A27DB-BD31-4B8C-83A1-F6EECF244321}">
                <p14:modId xmlns:p14="http://schemas.microsoft.com/office/powerpoint/2010/main" val="3970770398"/>
              </p:ext>
            </p:extLst>
          </p:nvPr>
        </p:nvGraphicFramePr>
        <p:xfrm>
          <a:off x="320041" y="2212848"/>
          <a:ext cx="5721066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1C14EFAC-9515-2059-6E7C-ABCDBA3F5E21}"/>
              </a:ext>
            </a:extLst>
          </p:cNvPr>
          <p:cNvSpPr txBox="1"/>
          <p:nvPr/>
        </p:nvSpPr>
        <p:spPr>
          <a:xfrm>
            <a:off x="6197552" y="2930973"/>
            <a:ext cx="291177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Implemented on:</a:t>
            </a:r>
            <a:br>
              <a:rPr lang="en-IN" sz="1400" dirty="0"/>
            </a:br>
            <a:r>
              <a:rPr lang="en-IN" sz="1400" dirty="0"/>
              <a:t>-      Local RTX 3050 GPU with Docker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4gb VRAM with WSL integration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Inferenced on demo image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Tested on the whole Test </a:t>
            </a:r>
            <a:r>
              <a:rPr lang="en-IN" sz="1400" dirty="0" err="1"/>
              <a:t>CULane</a:t>
            </a:r>
            <a:r>
              <a:rPr lang="en-IN" sz="1400" dirty="0"/>
              <a:t> benchmark</a:t>
            </a:r>
          </a:p>
          <a:p>
            <a:pPr marL="285750" indent="-285750">
              <a:buFontTx/>
              <a:buChar char="-"/>
            </a:pPr>
            <a:endParaRPr lang="en-IN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3152"/>
            <a:ext cx="737447" cy="5530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Reproduction: Detailed Metrics vs. Paper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20040" y="658368"/>
            <a:ext cx="8503920" cy="50292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6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977596"/>
              </p:ext>
            </p:extLst>
          </p:nvPr>
        </p:nvGraphicFramePr>
        <p:xfrm>
          <a:off x="3623781" y="995656"/>
          <a:ext cx="4977710" cy="3271540"/>
        </p:xfrm>
        <a:graphic>
          <a:graphicData uri="http://schemas.openxmlformats.org/drawingml/2006/table">
            <a:tbl>
              <a:tblPr/>
              <a:tblGrid>
                <a:gridCol w="1219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75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06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71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F₁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Reproduced F₁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1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94.36%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94.36%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1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80.62%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80.85%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1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Dazzle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75.23%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75.17%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1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84.35%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84.55%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1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57.31%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56.75%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1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91.17%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1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79.11%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78.83%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1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76.92%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76.85%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1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81.43% ±0.14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81.55%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is verified: 81.55% falls within the paper's stated variance of 81.43 ± 0.14%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8E9331-63C2-D2AB-230A-3B47D4F06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507" y="2763691"/>
            <a:ext cx="2678195" cy="14004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256874-2EA7-252C-984F-E8F4CF1F6D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509" y="995657"/>
            <a:ext cx="2678195" cy="14576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B67AC0-5EB7-9794-E54B-FF867532FE60}"/>
              </a:ext>
            </a:extLst>
          </p:cNvPr>
          <p:cNvSpPr txBox="1"/>
          <p:nvPr/>
        </p:nvSpPr>
        <p:spPr>
          <a:xfrm>
            <a:off x="1001397" y="2453310"/>
            <a:ext cx="17604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/>
              <a:t>Fig 1. Demo input image for inference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9956C4-ACF4-423C-F6D0-B5BF36850BBE}"/>
              </a:ext>
            </a:extLst>
          </p:cNvPr>
          <p:cNvSpPr txBox="1"/>
          <p:nvPr/>
        </p:nvSpPr>
        <p:spPr>
          <a:xfrm>
            <a:off x="828272" y="4161602"/>
            <a:ext cx="21066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/>
              <a:t>Fig 2. Demo output image with detected lanes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3152"/>
            <a:ext cx="777240" cy="5829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39" y="109728"/>
            <a:ext cx="78418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Novel Module 1: Geometric Endpoint Refinement (GER)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20040" y="658368"/>
            <a:ext cx="8503920" cy="50292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/>
              <a:t>7</a:t>
            </a:r>
          </a:p>
        </p:txBody>
      </p:sp>
      <p:sp>
        <p:nvSpPr>
          <p:cNvPr id="6" name="Text 3"/>
          <p:cNvSpPr/>
          <p:nvPr/>
        </p:nvSpPr>
        <p:spPr>
          <a:xfrm>
            <a:off x="396240" y="835829"/>
            <a:ext cx="4114800" cy="257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96240" y="1206637"/>
            <a:ext cx="4658360" cy="881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CLRerNet's 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row-wise prior grid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soft length regressor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underestimates lane extent near frame boundaries, producing a truncation gap at 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terminal endpoints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 This gap causes correct predictions to fall below the IoU = 0.5 threshold.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6240" y="2042943"/>
            <a:ext cx="4114800" cy="23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Method: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7301" y="2299059"/>
            <a:ext cx="256032" cy="205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/>
              <a:t>1.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4269" y="2253725"/>
            <a:ext cx="4557101" cy="330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Compute terminal direction vectors at both ends of each predicted lane.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41290" y="2568796"/>
            <a:ext cx="256032" cy="205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/>
              <a:t>2.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8258" y="2506360"/>
            <a:ext cx="4557100" cy="330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Extrapolate by δ = 30 px along local tangent (grid-searched on val set).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47301" y="2866382"/>
            <a:ext cx="256032" cy="205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/>
              <a:t>3.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4269" y="2803947"/>
            <a:ext cx="3964431" cy="330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Clamp extended points within image bounds [0, H] and [0, W].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47301" y="3138365"/>
            <a:ext cx="256032" cy="205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/>
              <a:t>4.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4269" y="3064483"/>
            <a:ext cx="4218432" cy="330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Pure geometry: zero learned parameters, &lt; 0.1 ms per lane on CPU.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5406011" y="1282218"/>
            <a:ext cx="3170722" cy="2080514"/>
          </a:xfrm>
          <a:prstGeom prst="rect">
            <a:avLst/>
          </a:prstGeom>
          <a:solidFill>
            <a:srgbClr val="FFFFFF"/>
          </a:solidFill>
          <a:ln w="6350">
            <a:solidFill>
              <a:schemeClr val="bg2">
                <a:lumMod val="50000"/>
              </a:schemeClr>
            </a:solidFill>
            <a:prstDash val="solid"/>
          </a:ln>
          <a:effectLst/>
        </p:spPr>
        <p:txBody>
          <a:bodyPr/>
          <a:lstStyle/>
          <a:p>
            <a:endParaRPr lang="en-IN" dirty="0"/>
          </a:p>
        </p:txBody>
      </p:sp>
      <p:sp>
        <p:nvSpPr>
          <p:cNvPr id="39" name="Text 36"/>
          <p:cNvSpPr/>
          <p:nvPr/>
        </p:nvSpPr>
        <p:spPr>
          <a:xfrm>
            <a:off x="5495889" y="1346225"/>
            <a:ext cx="3003842" cy="458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Why δ = 30 </a:t>
            </a:r>
            <a:r>
              <a:rPr lang="en-US" sz="1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px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5495889" y="1647978"/>
            <a:ext cx="3003842" cy="12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Grid-searched δ ∈ {0,10,20,30,40,50} on held-out val subset (Curve + Night, 1,452 images). F₁ saturates at δ = 30; beyond this, over-extrapolation begins merging distinct lanes.</a:t>
            </a:r>
            <a:endParaRPr lang="en-US" sz="1200" dirty="0"/>
          </a:p>
          <a:p>
            <a:pPr marL="0" indent="0" algn="just">
              <a:buNone/>
            </a:pPr>
            <a:endParaRPr lang="en-US" sz="1200" dirty="0"/>
          </a:p>
          <a:p>
            <a:pPr marL="0" indent="0" algn="just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30 px ≈ half-width of a standard highway lane marking at CULane's 590 px vertical resolution.</a:t>
            </a: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BC3FD4-8C2A-4DC4-5DD1-91DD7FCF7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6011" y="3839818"/>
            <a:ext cx="3170722" cy="585871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95A0AA6-C99D-545A-CFEF-4A10A760CC0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3492"/>
          <a:stretch>
            <a:fillRect/>
          </a:stretch>
        </p:blipFill>
        <p:spPr>
          <a:xfrm>
            <a:off x="347301" y="3579707"/>
            <a:ext cx="4918966" cy="13501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3152"/>
            <a:ext cx="720513" cy="5403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Novel Module 2: Adaptive Mask Width (AMW)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20040" y="658368"/>
            <a:ext cx="8503920" cy="50292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/>
              <a:t>8</a:t>
            </a:r>
          </a:p>
        </p:txBody>
      </p:sp>
      <p:sp>
        <p:nvSpPr>
          <p:cNvPr id="6" name="Text 3"/>
          <p:cNvSpPr/>
          <p:nvPr/>
        </p:nvSpPr>
        <p:spPr>
          <a:xfrm>
            <a:off x="320040" y="8412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52306" y="1166310"/>
            <a:ext cx="4206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CULane evaluates with a fixed 30 px rasterization brush. However, lane annotations are non-uniform:</a:t>
            </a:r>
            <a:endParaRPr lang="en-US" sz="1200" dirty="0"/>
          </a:p>
          <a:p>
            <a:pPr marL="0" indent="0" algn="just">
              <a:buNone/>
            </a:pPr>
            <a:endParaRPr lang="en-US" sz="1200" dirty="0"/>
          </a:p>
          <a:p>
            <a:pPr marL="0" indent="0" algn="just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Distant highway markings → sparse, large inter-point gaps</a:t>
            </a:r>
            <a:endParaRPr lang="en-US" sz="1200" dirty="0"/>
          </a:p>
          <a:p>
            <a:pPr marL="0" indent="0" algn="just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Near ego-vehicle → dense, small inter-point gaps</a:t>
            </a:r>
            <a:endParaRPr lang="en-US" sz="1200" dirty="0"/>
          </a:p>
          <a:p>
            <a:pPr marL="0" indent="0" algn="just">
              <a:buNone/>
            </a:pPr>
            <a:endParaRPr lang="en-US" sz="1200" dirty="0"/>
          </a:p>
          <a:p>
            <a:pPr marL="0" indent="0" algn="just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correct prediction offset by only 10–15 px from a sparse GT can produce IoU ≈ 0.43, just below the 0.5 threshold, 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preventable False Negative.</a:t>
            </a:r>
            <a:endParaRPr lang="en-US" sz="1200" b="1" dirty="0"/>
          </a:p>
        </p:txBody>
      </p:sp>
      <p:sp>
        <p:nvSpPr>
          <p:cNvPr id="9" name="Text 6"/>
          <p:cNvSpPr/>
          <p:nvPr/>
        </p:nvSpPr>
        <p:spPr>
          <a:xfrm>
            <a:off x="320040" y="3001941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Formulation:</a:t>
            </a:r>
            <a:endParaRPr lang="en-US" sz="1400" dirty="0"/>
          </a:p>
        </p:txBody>
      </p:sp>
      <p:graphicFrame>
        <p:nvGraphicFramePr>
          <p:cNvPr id="26" name="Chart 0"/>
          <p:cNvGraphicFramePr/>
          <p:nvPr>
            <p:extLst>
              <p:ext uri="{D42A27DB-BD31-4B8C-83A1-F6EECF244321}">
                <p14:modId xmlns:p14="http://schemas.microsoft.com/office/powerpoint/2010/main" val="4172032585"/>
              </p:ext>
            </p:extLst>
          </p:nvPr>
        </p:nvGraphicFramePr>
        <p:xfrm>
          <a:off x="4698154" y="893772"/>
          <a:ext cx="3717713" cy="18546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Shape 23"/>
          <p:cNvSpPr/>
          <p:nvPr/>
        </p:nvSpPr>
        <p:spPr>
          <a:xfrm>
            <a:off x="4809067" y="1899611"/>
            <a:ext cx="3479800" cy="45719"/>
          </a:xfrm>
          <a:prstGeom prst="rect">
            <a:avLst/>
          </a:prstGeom>
          <a:solidFill>
            <a:srgbClr val="DC2626">
              <a:alpha val="4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526953" y="1927044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/>
              <a:t>IoU = 0.5 decision boundary</a:t>
            </a: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E87D2C-CA56-F7B1-A6BD-E786C209A0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975" y="3368877"/>
            <a:ext cx="3181505" cy="70020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1F65BEF-3D13-D0DF-20C6-0767BD8804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759" y="4069080"/>
            <a:ext cx="3258007" cy="590633"/>
          </a:xfrm>
          <a:prstGeom prst="rect">
            <a:avLst/>
          </a:prstGeom>
        </p:spPr>
      </p:pic>
      <p:sp>
        <p:nvSpPr>
          <p:cNvPr id="31" name="Text 9">
            <a:extLst>
              <a:ext uri="{FF2B5EF4-FFF2-40B4-BE49-F238E27FC236}">
                <a16:creationId xmlns:a16="http://schemas.microsoft.com/office/drawing/2014/main" id="{41EC7CF0-CCA7-48BD-F418-D3C8DCE2504C}"/>
              </a:ext>
            </a:extLst>
          </p:cNvPr>
          <p:cNvSpPr/>
          <p:nvPr/>
        </p:nvSpPr>
        <p:spPr>
          <a:xfrm>
            <a:off x="320040" y="3616144"/>
            <a:ext cx="256032" cy="205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/>
              <a:t>1.</a:t>
            </a:r>
            <a:endParaRPr lang="en-US" sz="1200" dirty="0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59544591-7E73-6957-5DDB-5E4E3892640D}"/>
              </a:ext>
            </a:extLst>
          </p:cNvPr>
          <p:cNvSpPr/>
          <p:nvPr/>
        </p:nvSpPr>
        <p:spPr>
          <a:xfrm>
            <a:off x="320040" y="4279463"/>
            <a:ext cx="256032" cy="205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/>
              <a:t>2.</a:t>
            </a:r>
            <a:endParaRPr lang="en-US" sz="12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BC14B1C-11E8-7D03-E47B-27273808CD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5000" y="2827825"/>
            <a:ext cx="3717714" cy="19092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3152"/>
            <a:ext cx="712047" cy="5340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Overall F₁ Comparison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20040" y="658368"/>
            <a:ext cx="8503920" cy="50292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9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20040" y="841248"/>
            <a:ext cx="850392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olid"/>
          </a:ln>
          <a:effectLst/>
        </p:spPr>
        <p:txBody>
          <a:bodyPr/>
          <a:lstStyle/>
          <a:p>
            <a:endParaRPr lang="en-IN" dirty="0"/>
          </a:p>
        </p:txBody>
      </p:sp>
      <p:sp>
        <p:nvSpPr>
          <p:cNvPr id="8" name="Text 5"/>
          <p:cNvSpPr/>
          <p:nvPr/>
        </p:nvSpPr>
        <p:spPr>
          <a:xfrm>
            <a:off x="548640" y="87782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81.55%  →  85.46%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48640" y="13533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F₁ (IoU = 0.5)  |  GER + AMW Modules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03520" y="877824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+3.91%</a:t>
            </a:r>
            <a:endParaRPr lang="en-US" sz="48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320040" y="1920240"/>
          <a:ext cx="85039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3152"/>
            <a:ext cx="737447" cy="5530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Per-Category Improvement Analysis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20040" y="658368"/>
            <a:ext cx="8503920" cy="50292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10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841248"/>
          <a:ext cx="475488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238606"/>
              </p:ext>
            </p:extLst>
          </p:nvPr>
        </p:nvGraphicFramePr>
        <p:xfrm>
          <a:off x="5120640" y="1008888"/>
          <a:ext cx="3840480" cy="2575560"/>
        </p:xfrm>
        <a:graphic>
          <a:graphicData uri="http://schemas.openxmlformats.org/drawingml/2006/table">
            <a:tbl>
              <a:tblPr/>
              <a:tblGrid>
                <a:gridCol w="1109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GER+AMW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94.36%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+2.47%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80.85%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+4.53%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Dazzle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75.17%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80.98%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+5.81%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84.55%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87.87%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+3.32%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62.02%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+5.27%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+2.68%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78.83%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85.53%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+6.70%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76.85%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81.68%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+4.83%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81.55%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85.46%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+3.91%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5212080" y="400507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Curve: +6.70% (largest gain) — GER reduces truncation FN in curved scenes</a:t>
            </a:r>
            <a:endParaRPr lang="en-US" sz="950" dirty="0"/>
          </a:p>
          <a:p>
            <a:pPr marL="0" indent="0" algn="just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Line: +5.27% — AMW recovers sparse annotation misses</a:t>
            </a:r>
            <a:endParaRPr lang="en-US" sz="950" dirty="0"/>
          </a:p>
          <a:p>
            <a:pPr marL="0" indent="0" algn="just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Dazzle: +5.81% — Both modules reduce false negatives in low-contrast scenes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3152"/>
            <a:ext cx="737447" cy="5530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Study: Module Contribution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20040" y="658368"/>
            <a:ext cx="8503920" cy="50292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11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20040" y="8229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contributes independently. Combining both yields the full improvement.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1170432"/>
          <a:ext cx="50292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623560" y="1170432"/>
            <a:ext cx="3200400" cy="1143000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  <a:prstDash val="solid"/>
          </a:ln>
          <a:effectLst/>
        </p:spPr>
        <p:txBody>
          <a:bodyPr/>
          <a:lstStyle/>
          <a:p>
            <a:endParaRPr lang="en-IN" dirty="0"/>
          </a:p>
        </p:txBody>
      </p:sp>
      <p:sp>
        <p:nvSpPr>
          <p:cNvPr id="10" name="Text 6"/>
          <p:cNvSpPr/>
          <p:nvPr/>
        </p:nvSpPr>
        <p:spPr>
          <a:xfrm>
            <a:off x="5715000" y="12618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GER alone  +1.57%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715000" y="1600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extrapolation recovers truncation-induced FN, primarily in Curve and Night categories.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623560" y="2432304"/>
            <a:ext cx="3200400" cy="1143000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  <a:prstDash val="solid"/>
          </a:ln>
          <a:effectLst/>
        </p:spPr>
      </p:sp>
      <p:sp>
        <p:nvSpPr>
          <p:cNvPr id="14" name="Text 10"/>
          <p:cNvSpPr/>
          <p:nvPr/>
        </p:nvSpPr>
        <p:spPr>
          <a:xfrm>
            <a:off x="5715000" y="25237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AMW alone  +2.46%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715000" y="286207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adaptive mask rescues sparse-annotation misses across all categories, most impactful for No Line and Dazzle.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623560" y="3694176"/>
            <a:ext cx="3200400" cy="1143000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  <a:prstDash val="solid"/>
          </a:ln>
          <a:effectLst/>
        </p:spPr>
      </p:sp>
      <p:sp>
        <p:nvSpPr>
          <p:cNvPr id="18" name="Text 14"/>
          <p:cNvSpPr/>
          <p:nvPr/>
        </p:nvSpPr>
        <p:spPr>
          <a:xfrm>
            <a:off x="5715000" y="3785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GER + AMW  +3.91%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715000" y="412394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Synergistic: GER extends lane coverage, AMW relaxes evaluation tolerance. Together they address both endpoint and mask-width failure modes.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3152"/>
            <a:ext cx="690880" cy="518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77385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365760" y="90085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Reproduction: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3627" y="119346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CLRerNet's 81.55% F₁ on CULane is fully verified, within the paper's reported variance of 81.43 ± 0.14%.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1528911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GER: Geometric Endpoint Refinement: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18405" y="1816947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Tangent-based extrapolation (δ=30px) recovers lane segments truncated by the model's length regressor, pure geometry, zero parameters.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65760" y="235119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AMW: Adaptive Mask Width: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18405" y="259994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Density-proportional brush width [48–56px] prevents correct close-but-sparse predictions from falling below IoU=0.5 due to annotation sparsity.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65760" y="3138255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Combined Improvement: +3.91% F₁: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7889" y="340080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85.46% overall F₁. Curve improves most (+6.70%), followed by No Line (+5.27%) and Dazzle (+5.81%)- exactly the categories targeted by design.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65760" y="3942927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Zero Computational Cost at Inference: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27889" y="424332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Both modules operate post-inference on CPU in &lt; 1 ms per image. No retraining required. Fully compatible with real-time deployment.</a:t>
            </a:r>
            <a:endParaRPr lang="en-US" sz="1300" dirty="0"/>
          </a:p>
        </p:txBody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A944CC71-9A97-533A-7B67-E928F8F1E2DB}"/>
              </a:ext>
            </a:extLst>
          </p:cNvPr>
          <p:cNvSpPr/>
          <p:nvPr/>
        </p:nvSpPr>
        <p:spPr>
          <a:xfrm>
            <a:off x="320040" y="658368"/>
            <a:ext cx="8503920" cy="50292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3152"/>
            <a:ext cx="720513" cy="5403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20040" y="658368"/>
            <a:ext cx="8503920" cy="50292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13</a:t>
            </a:r>
            <a:endParaRPr lang="en-US" sz="1100" dirty="0"/>
          </a:p>
        </p:txBody>
      </p:sp>
      <p:sp>
        <p:nvSpPr>
          <p:cNvPr id="31" name="Rectangle 1">
            <a:extLst>
              <a:ext uri="{FF2B5EF4-FFF2-40B4-BE49-F238E27FC236}">
                <a16:creationId xmlns:a16="http://schemas.microsoft.com/office/drawing/2014/main" id="{F42A570A-2E25-FDD0-3193-F3B8C12BC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" y="809419"/>
            <a:ext cx="8320193" cy="3936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Training-Time AMW Integration</a:t>
            </a:r>
            <a:r>
              <a:rPr lang="en-US" altLang="en-US" sz="1200" b="1" dirty="0">
                <a:latin typeface="Arial" panose="020B060402020202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Embed the adaptive brush width directly into the training loss so the model learns annotation sparsity from the start, not just at evaluation.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Learned Endpoint Prediction: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Replace the fixed 30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px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extension with a small MLP head that predicts the ideal extension length per lane based on local curvature and context.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Temporal Propagation for No-Line Scenes: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optical flow to carry over high-confidence lane detections from neighboring frames into No-Line frames where markings are absent.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Per-Scene Confidence Threshold Adaptation: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Train a lightweight scene classifier to predict an adjusted confidence threshold per image instead of applying one global value to all scene types.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Confidence Calibration to Close Oracle Gap: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Apply temperature scaling or isotonic regression to the model's output logits to push performance closer to the 98.47% oracle ceiling.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3152"/>
            <a:ext cx="719328" cy="5394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20040" y="645160"/>
            <a:ext cx="8503920" cy="50292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/>
              <a:t>14</a:t>
            </a:r>
          </a:p>
        </p:txBody>
      </p:sp>
      <p:sp>
        <p:nvSpPr>
          <p:cNvPr id="6" name="Text 3"/>
          <p:cNvSpPr/>
          <p:nvPr/>
        </p:nvSpPr>
        <p:spPr>
          <a:xfrm>
            <a:off x="320040" y="94284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[1] Honda, H. &amp; Uchida, Y. (2024). CLRerNet: Improving Confidence of Lane Detection with LaneIoU. WACV 2024, pp. 1176–1185.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134416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[2] Zheng, T., et al. (2022). CLRNet: Cross Layer Refinement Network for Lane Detection. CVPR 2022, pp. 898–907.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1745319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[3] Pan, X., et al. (2018). Spatial As Deep: Spatial CNN for Traffic Scene Understanding. AAAI 2018. [CULane Dataset]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0040" y="2154089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[4] Xu, H., et al. (2020). CurveLane-NAS: Unifying Lane-Sensitive Architecture Search and Adaptive Point Blending. ECCV 2020.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0040" y="2574713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[5] Ge, Z., et al. (2021). YOLOX: Exceeding YOLO Series in 2021. arXiv:2107.08430. [SimOTA Assigner]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20040" y="2983483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[6] Liu, L., et al. (2021). CondLaneNet: A Top-to-Down Lane Detection Framework. ICCV 2021, pp. 3773–3782.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20040" y="3378623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[7] Tabelini, L., et al. (2021). Keep Your Eyes on the Lane: Real-Time Attention-Guided Lane Detection. CVPR 2021. [LaneATT]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20040" y="374040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[8] Chen, K., et al. (2019). MMDetection: Open MMLab Detection Toolbox and Benchmark. arXiv:1906.07155.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opBanner"/>
          <p:cNvSpPr txBox="1"/>
          <p:nvPr/>
        </p:nvSpPr>
        <p:spPr>
          <a:xfrm>
            <a:off x="0" y="0"/>
            <a:ext cx="9144000" cy="1800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wrap="square" anchor="ctr"/>
          <a:lstStyle/>
          <a:p>
            <a:endParaRPr sz="1050"/>
          </a:p>
        </p:txBody>
      </p:sp>
      <p:sp>
        <p:nvSpPr>
          <p:cNvPr id="201" name="ThankYouText"/>
          <p:cNvSpPr txBox="1"/>
          <p:nvPr/>
        </p:nvSpPr>
        <p:spPr>
          <a:xfrm>
            <a:off x="0" y="225000"/>
            <a:ext cx="9144000" cy="135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20" rIns="91425" bIns="45720" anchor="ctr"/>
          <a:lstStyle/>
          <a:p>
            <a:pPr algn="ctr"/>
            <a:r>
              <a:rPr lang="en" sz="4500" b="1" dirty="0">
                <a:solidFill>
                  <a:srgbClr val="FFFFFF"/>
                </a:solidFill>
                <a:latin typeface="Arial" pitchFamily="34" charset="0"/>
              </a:rPr>
              <a:t>Thank You!</a:t>
            </a:r>
          </a:p>
        </p:txBody>
      </p:sp>
      <p:sp>
        <p:nvSpPr>
          <p:cNvPr id="202" name="BottomSection"/>
          <p:cNvSpPr txBox="1"/>
          <p:nvPr/>
        </p:nvSpPr>
        <p:spPr>
          <a:xfrm>
            <a:off x="0" y="1800000"/>
            <a:ext cx="9144000" cy="343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/>
          <a:lstStyle/>
          <a:p>
            <a:endParaRPr sz="1050"/>
          </a:p>
        </p:txBody>
      </p:sp>
      <p:cxnSp>
        <p:nvCxnSpPr>
          <p:cNvPr id="204" name="DividerLine"/>
          <p:cNvCxnSpPr/>
          <p:nvPr/>
        </p:nvCxnSpPr>
        <p:spPr>
          <a:xfrm>
            <a:off x="1500000" y="2775000"/>
            <a:ext cx="6144000" cy="6000"/>
          </a:xfrm>
          <a:prstGeom prst="straightConnector1">
            <a:avLst/>
          </a:prstGeom>
          <a:noFill/>
          <a:ln w="25400" cap="flat" cmpd="sng">
            <a:solidFill>
              <a:srgbClr val="FF9900"/>
            </a:solidFill>
            <a:prstDash val="solid"/>
          </a:ln>
        </p:spPr>
      </p:cxnSp>
      <p:sp>
        <p:nvSpPr>
          <p:cNvPr id="205" name="PaperInfo"/>
          <p:cNvSpPr txBox="1"/>
          <p:nvPr/>
        </p:nvSpPr>
        <p:spPr>
          <a:xfrm>
            <a:off x="750000" y="2887500"/>
            <a:ext cx="7644000" cy="45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20" rIns="91425" bIns="45720" anchor="ctr"/>
          <a:lstStyle/>
          <a:p>
            <a:pPr algn="ctr"/>
            <a:r>
              <a:rPr lang="en" sz="1200" b="1" dirty="0">
                <a:solidFill>
                  <a:srgbClr val="FF9900"/>
                </a:solidFill>
                <a:latin typeface="Arial" pitchFamily="34" charset="0"/>
              </a:rPr>
              <a:t>CLRerNet</a:t>
            </a:r>
            <a:r>
              <a:rPr lang="en" sz="1200" dirty="0">
                <a:solidFill>
                  <a:srgbClr val="555555"/>
                </a:solidFill>
                <a:latin typeface="Arial" pitchFamily="34" charset="0"/>
              </a:rPr>
              <a:t>  | </a:t>
            </a:r>
            <a:r>
              <a:rPr lang="en-US" sz="1200" b="1" dirty="0"/>
              <a:t>Improving Confidence of Lane Detection with </a:t>
            </a:r>
            <a:r>
              <a:rPr lang="en-US" sz="1200" b="1" dirty="0" err="1"/>
              <a:t>LaneIoU</a:t>
            </a:r>
            <a:endParaRPr lang="en" sz="1200" dirty="0">
              <a:solidFill>
                <a:srgbClr val="555555"/>
              </a:solidFill>
              <a:latin typeface="Arial" pitchFamily="34" charset="0"/>
            </a:endParaRPr>
          </a:p>
        </p:txBody>
      </p:sp>
      <p:sp>
        <p:nvSpPr>
          <p:cNvPr id="206" name="PresenterInfo"/>
          <p:cNvSpPr txBox="1"/>
          <p:nvPr/>
        </p:nvSpPr>
        <p:spPr>
          <a:xfrm>
            <a:off x="750000" y="3412500"/>
            <a:ext cx="7644000" cy="375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20" rIns="91425" bIns="45720" anchor="ctr"/>
          <a:lstStyle/>
          <a:p>
            <a:pPr algn="ctr"/>
            <a:r>
              <a:rPr lang="en" sz="1050" dirty="0">
                <a:solidFill>
                  <a:srgbClr val="777777"/>
                </a:solidFill>
                <a:latin typeface="Arial" pitchFamily="34" charset="0"/>
              </a:rPr>
              <a:t>Presented by Khushal Bhalia (CS25MTECH14008)  |  Course: CS6450  |  IIT Hyderabad</a:t>
            </a:r>
          </a:p>
        </p:txBody>
      </p:sp>
      <p:pic>
        <p:nvPicPr>
          <p:cNvPr id="207" name="IIT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00000" y="4350000"/>
            <a:ext cx="750000" cy="7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1596</Words>
  <Application>Microsoft Office PowerPoint</Application>
  <PresentationFormat>On-screen Show (16:9)</PresentationFormat>
  <Paragraphs>236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CLRerNet Presentation 2</dc:title>
  <dc:subject>PptxGenJS Presentation</dc:subject>
  <dc:creator>PptxGenJS</dc:creator>
  <cp:lastModifiedBy>Khushal Bhalia</cp:lastModifiedBy>
  <cp:revision>11</cp:revision>
  <dcterms:created xsi:type="dcterms:W3CDTF">2026-04-18T04:14:48Z</dcterms:created>
  <dcterms:modified xsi:type="dcterms:W3CDTF">2026-04-26T18:10:30Z</dcterms:modified>
</cp:coreProperties>
</file>